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382500" cy="838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5750" y="533400"/>
            <a:ext cx="11811000" cy="7581900"/>
          </a:xfrm>
          <a:prstGeom prst="roundRect">
            <a:avLst>
              <a:gd name="adj" fmla="val 1256"/>
            </a:avLst>
          </a:prstGeom>
          <a:noFill/>
          <a:ln w="1905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81250" y="5715000"/>
            <a:ext cx="9620250" cy="2019300"/>
          </a:xfrm>
          <a:prstGeom prst="roundRect">
            <a:avLst>
              <a:gd name="adj" fmla="val 3773"/>
            </a:avLst>
          </a:prstGeom>
          <a:solidFill>
            <a:srgbClr val="F7F9FC"/>
          </a:solidFill>
          <a:ln w="15875">
            <a:solidFill>
              <a:srgbClr val="4D72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390650" y="1714500"/>
            <a:ext cx="1695450" cy="0"/>
          </a:xfrm>
          <a:prstGeom prst="line">
            <a:avLst/>
          </a:prstGeom>
          <a:ln w="20320">
            <a:solidFill>
              <a:srgbClr val="232F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771900" y="1714500"/>
            <a:ext cx="1790700" cy="0"/>
          </a:xfrm>
          <a:prstGeom prst="line">
            <a:avLst/>
          </a:prstGeom>
          <a:ln w="20320">
            <a:solidFill>
              <a:srgbClr val="232F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248400" y="1714500"/>
            <a:ext cx="1790700" cy="0"/>
          </a:xfrm>
          <a:prstGeom prst="line">
            <a:avLst/>
          </a:prstGeom>
          <a:ln w="20320">
            <a:solidFill>
              <a:srgbClr val="232F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24900" y="1714500"/>
            <a:ext cx="2076450" cy="0"/>
          </a:xfrm>
          <a:prstGeom prst="line">
            <a:avLst/>
          </a:prstGeom>
          <a:ln w="20320">
            <a:solidFill>
              <a:srgbClr val="8A94A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05500" y="2514600"/>
            <a:ext cx="0" cy="723900"/>
          </a:xfrm>
          <a:prstGeom prst="line">
            <a:avLst/>
          </a:prstGeom>
          <a:ln w="20320">
            <a:solidFill>
              <a:srgbClr val="232F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162550" y="3238500"/>
            <a:ext cx="742950" cy="361950"/>
          </a:xfrm>
          <a:prstGeom prst="line">
            <a:avLst/>
          </a:prstGeom>
          <a:ln w="20320">
            <a:solidFill>
              <a:srgbClr val="232F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05500" y="3238500"/>
            <a:ext cx="933450" cy="361950"/>
          </a:xfrm>
          <a:prstGeom prst="line">
            <a:avLst/>
          </a:prstGeom>
          <a:ln w="20320">
            <a:solidFill>
              <a:srgbClr val="232F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43500" y="4724400"/>
            <a:ext cx="0" cy="990600"/>
          </a:xfrm>
          <a:prstGeom prst="line">
            <a:avLst/>
          </a:prstGeom>
          <a:ln w="20320">
            <a:solidFill>
              <a:srgbClr val="1D810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71900" y="6324600"/>
            <a:ext cx="1790700" cy="0"/>
          </a:xfrm>
          <a:prstGeom prst="line">
            <a:avLst/>
          </a:prstGeom>
          <a:ln w="20320">
            <a:solidFill>
              <a:srgbClr val="232F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48400" y="6324600"/>
            <a:ext cx="1790700" cy="0"/>
          </a:xfrm>
          <a:prstGeom prst="line">
            <a:avLst/>
          </a:prstGeom>
          <a:ln w="20320">
            <a:solidFill>
              <a:srgbClr val="D1321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24900" y="6324600"/>
            <a:ext cx="1600200" cy="0"/>
          </a:xfrm>
          <a:prstGeom prst="line">
            <a:avLst/>
          </a:prstGeom>
          <a:ln w="20320">
            <a:solidFill>
              <a:srgbClr val="232F3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82000" y="2514600"/>
            <a:ext cx="0" cy="2819400"/>
          </a:xfrm>
          <a:prstGeom prst="line">
            <a:avLst/>
          </a:prstGeom>
          <a:ln w="20320">
            <a:solidFill>
              <a:srgbClr val="8C4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429000" y="5334000"/>
            <a:ext cx="4953000" cy="0"/>
          </a:xfrm>
          <a:prstGeom prst="line">
            <a:avLst/>
          </a:prstGeom>
          <a:ln w="20320">
            <a:solidFill>
              <a:srgbClr val="8C4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29000" y="5334000"/>
            <a:ext cx="0" cy="666750"/>
          </a:xfrm>
          <a:prstGeom prst="line">
            <a:avLst/>
          </a:prstGeom>
          <a:ln w="20320">
            <a:solidFill>
              <a:srgbClr val="8C4F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82000" y="6629400"/>
            <a:ext cx="0" cy="38100"/>
          </a:xfrm>
          <a:prstGeom prst="line">
            <a:avLst/>
          </a:prstGeom>
          <a:ln w="20320">
            <a:solidFill>
              <a:srgbClr val="D1321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905750" y="6667500"/>
            <a:ext cx="476250" cy="0"/>
          </a:xfrm>
          <a:prstGeom prst="line">
            <a:avLst/>
          </a:prstGeom>
          <a:ln w="20320">
            <a:solidFill>
              <a:srgbClr val="D1321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5750" y="6667500"/>
            <a:ext cx="0" cy="609600"/>
          </a:xfrm>
          <a:prstGeom prst="line">
            <a:avLst/>
          </a:prstGeom>
          <a:ln w="20320">
            <a:solidFill>
              <a:srgbClr val="D1321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381750" y="7277100"/>
            <a:ext cx="1524000" cy="0"/>
          </a:xfrm>
          <a:prstGeom prst="line">
            <a:avLst/>
          </a:prstGeom>
          <a:ln w="20320">
            <a:solidFill>
              <a:srgbClr val="D1321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81750" y="6667500"/>
            <a:ext cx="0" cy="609600"/>
          </a:xfrm>
          <a:prstGeom prst="line">
            <a:avLst/>
          </a:prstGeom>
          <a:ln w="20320">
            <a:solidFill>
              <a:srgbClr val="D1321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905500" y="6667500"/>
            <a:ext cx="476250" cy="0"/>
          </a:xfrm>
          <a:prstGeom prst="line">
            <a:avLst/>
          </a:prstGeom>
          <a:ln w="20320">
            <a:solidFill>
              <a:srgbClr val="D1321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05500" y="6629400"/>
            <a:ext cx="0" cy="38100"/>
          </a:xfrm>
          <a:prstGeom prst="line">
            <a:avLst/>
          </a:prstGeom>
          <a:ln w="20320">
            <a:solidFill>
              <a:srgbClr val="D13212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24875" y="15163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7085"/>
                </a:solidFill>
              </a:rPr>
              <a:t>logs &amp;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610743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D13212"/>
                </a:solidFill>
              </a:rPr>
              <a:t>on validation 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0" y="610743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232F3E"/>
                </a:solidFill>
              </a:rPr>
              <a:t>InvokeModel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0" y="73837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D13212"/>
                </a:solidFill>
              </a:rPr>
              <a:t>re-validate (loop, up to max attempts)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850" y="504063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>
                <a:solidFill>
                  <a:srgbClr val="5C7A10"/>
                </a:solidFill>
              </a:rPr>
              <a:t>read / write artifacts</a:t>
            </a:r>
          </a:p>
        </p:txBody>
      </p:sp>
      <p:pic>
        <p:nvPicPr>
          <p:cNvPr id="30" name="Picture 29" descr="develo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9700"/>
            <a:ext cx="609600" cy="609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-190500" y="20863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Developer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90500" y="22402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(browser)</a:t>
            </a:r>
          </a:p>
        </p:txBody>
      </p:sp>
      <p:pic>
        <p:nvPicPr>
          <p:cNvPr id="33" name="Picture 32" descr="e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409700"/>
            <a:ext cx="609600" cy="609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0750" y="20863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Elastic Load Balancing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22402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Application Load Balancer</a:t>
            </a:r>
          </a:p>
        </p:txBody>
      </p:sp>
      <p:pic>
        <p:nvPicPr>
          <p:cNvPr id="36" name="Picture 35" descr="e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1409700"/>
            <a:ext cx="609600" cy="609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67250" y="20863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Amazon ECS on Fargate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7250" y="22402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Web App (FastAPI)</a:t>
            </a:r>
          </a:p>
        </p:txBody>
      </p:sp>
      <p:pic>
        <p:nvPicPr>
          <p:cNvPr id="39" name="Picture 38" descr="stepfunc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409700"/>
            <a:ext cx="609600" cy="609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43750" y="20863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AWS Step Functions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43750" y="22402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orchestrator</a:t>
            </a:r>
          </a:p>
        </p:txBody>
      </p:sp>
      <p:pic>
        <p:nvPicPr>
          <p:cNvPr id="42" name="Picture 41" descr="cloudw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9450" y="1409700"/>
            <a:ext cx="609600" cy="609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906000" y="20863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Amazon CloudWatch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6000" y="22402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logs · metrics · dashboard</a:t>
            </a:r>
          </a:p>
        </p:txBody>
      </p:sp>
      <p:pic>
        <p:nvPicPr>
          <p:cNvPr id="45" name="Picture 44" descr="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700" y="3619500"/>
            <a:ext cx="609600" cy="609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905250" y="42961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Amazon S3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5250" y="44500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uploads + results</a:t>
            </a:r>
          </a:p>
        </p:txBody>
      </p:sp>
      <p:pic>
        <p:nvPicPr>
          <p:cNvPr id="48" name="Picture 47" descr="dynamo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619500"/>
            <a:ext cx="609600" cy="6096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619750" y="42961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Amazon DynamoDB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19750" y="44500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run state (TTL)</a:t>
            </a:r>
          </a:p>
        </p:txBody>
      </p:sp>
      <p:pic>
        <p:nvPicPr>
          <p:cNvPr id="51" name="Picture 50" descr="transform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6019800"/>
            <a:ext cx="609600" cy="6096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190750" y="66964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Transformer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0750" y="68503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AWS Transform (atx)</a:t>
            </a:r>
          </a:p>
        </p:txBody>
      </p:sp>
      <p:pic>
        <p:nvPicPr>
          <p:cNvPr id="54" name="Picture 53" descr="transform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0700" y="6019800"/>
            <a:ext cx="609600" cy="6096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667250" y="66964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Validator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0" y="68503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build + test</a:t>
            </a:r>
          </a:p>
        </p:txBody>
      </p:sp>
      <p:pic>
        <p:nvPicPr>
          <p:cNvPr id="57" name="Picture 56" descr="transform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6019800"/>
            <a:ext cx="609600" cy="609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143750" y="66964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Remediator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43750" y="68503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AI auto-fix</a:t>
            </a:r>
          </a:p>
        </p:txBody>
      </p:sp>
      <p:pic>
        <p:nvPicPr>
          <p:cNvPr id="60" name="Picture 59" descr="bedr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3200" y="6019800"/>
            <a:ext cx="609600" cy="609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429750" y="6696456"/>
            <a:ext cx="2476500" cy="1943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900" b="0">
                <a:solidFill>
                  <a:srgbClr val="232F3E"/>
                </a:solidFill>
              </a:rPr>
              <a:t>Amazon Bedrock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29750" y="6850380"/>
            <a:ext cx="24765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750" b="0">
                <a:solidFill>
                  <a:srgbClr val="666666"/>
                </a:solidFill>
              </a:rPr>
              <a:t>Claude (inference profile)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28750" y="137160"/>
            <a:ext cx="9525000" cy="3238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/>
            <a:r>
              <a:rPr sz="1500" b="1">
                <a:solidFill>
                  <a:srgbClr val="161E2D"/>
                </a:solidFill>
              </a:rPr>
              <a:t>AI-Powered Modernization Factory - Target architecture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5300" y="628269"/>
            <a:ext cx="2476500" cy="21050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75" b="1">
                <a:solidFill>
                  <a:srgbClr val="232F3E"/>
                </a:solidFill>
              </a:rPr>
              <a:t>AWS Cloud · us-east-1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5830443"/>
            <a:ext cx="2476500" cy="178118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/>
            <a:r>
              <a:rPr sz="825" b="1">
                <a:solidFill>
                  <a:srgbClr val="3A5A94"/>
                </a:solidFill>
              </a:rPr>
              <a:t>CodeBuild sandboxes · isolated</a:t>
            </a:r>
          </a:p>
        </p:txBody>
      </p:sp>
      <p:sp>
        <p:nvSpPr>
          <p:cNvPr id="66" name="Oval 65"/>
          <p:cNvSpPr/>
          <p:nvPr/>
        </p:nvSpPr>
        <p:spPr>
          <a:xfrm>
            <a:off x="2133600" y="16097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7" name="Oval 66"/>
          <p:cNvSpPr/>
          <p:nvPr/>
        </p:nvSpPr>
        <p:spPr>
          <a:xfrm>
            <a:off x="4562475" y="16097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8" name="Oval 67"/>
          <p:cNvSpPr/>
          <p:nvPr/>
        </p:nvSpPr>
        <p:spPr>
          <a:xfrm>
            <a:off x="7038975" y="16097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9" name="Oval 68"/>
          <p:cNvSpPr/>
          <p:nvPr/>
        </p:nvSpPr>
        <p:spPr>
          <a:xfrm>
            <a:off x="5800725" y="27527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0" name="Oval 69"/>
          <p:cNvSpPr/>
          <p:nvPr/>
        </p:nvSpPr>
        <p:spPr>
          <a:xfrm>
            <a:off x="6562725" y="52292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1" name="Oval 70"/>
          <p:cNvSpPr/>
          <p:nvPr/>
        </p:nvSpPr>
        <p:spPr>
          <a:xfrm>
            <a:off x="5038725" y="49244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2" name="Oval 71"/>
          <p:cNvSpPr/>
          <p:nvPr/>
        </p:nvSpPr>
        <p:spPr>
          <a:xfrm>
            <a:off x="4562475" y="62198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3" name="Oval 72"/>
          <p:cNvSpPr/>
          <p:nvPr/>
        </p:nvSpPr>
        <p:spPr>
          <a:xfrm>
            <a:off x="7038975" y="62198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4" name="Oval 73"/>
          <p:cNvSpPr/>
          <p:nvPr/>
        </p:nvSpPr>
        <p:spPr>
          <a:xfrm>
            <a:off x="9420225" y="6219825"/>
            <a:ext cx="209550" cy="20955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